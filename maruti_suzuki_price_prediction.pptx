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655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39" y="2133600"/>
            <a:ext cx="2436837" cy="23926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4" name="Image 0" descr="icons/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636" y="2712720"/>
            <a:ext cx="1170041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1446" y="2331720"/>
            <a:ext cx="69666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On-Road Vehicle Price Prediction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Project — Data Cleaning, Exploratory Analysis, Feature Engineering &amp; Predictive Modeling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10972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074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1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Gautam Data 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 |  Domain: Automotive Retail Analytics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800,000 Sales Records   •   57 Products   •   16 Dealers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531446" y="1469069"/>
            <a:ext cx="5804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spc="300" dirty="0">
                <a:solidFill>
                  <a:srgbClr val="E4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PRICING ANALYTICS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icons/ex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dealerships need a consistent, data-driven way to estimate the On-Road Price of a vehicle based on its configuration, location, and sales context — instead of relying on manual, inconsistent quotations across dealers and channels.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206240"/>
            <a:ext cx="4754880" cy="0"/>
          </a:xfrm>
          <a:prstGeom prst="line">
            <a:avLst/>
          </a:prstGeom>
          <a:noFill/>
          <a:ln w="12700">
            <a:solidFill>
              <a:srgbClr val="E7E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5491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434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14400" y="51663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to accurately predict On-Road Price using historical sales &amp; vehicle data — enabling faster quotations, consistent pricing, and smarter sales planning.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63640" y="141732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06540" y="1659636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icons/moneyb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130" y="1808226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06640" y="1536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Pricing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406640" y="189280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reliable pricing across every dealer &amp; channel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2624328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6540" y="2866644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130" y="3015234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Planning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06640" y="309981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forecasting and inventory decisions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263640" y="3831336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06540" y="4073652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6" name="Image 4" descr="icons/perc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130" y="4222242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06640" y="3950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Strategy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406640" y="43068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pricing &amp; discount strategy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63640" y="5038344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06540" y="528066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5" descr="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5130" y="542925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5157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Trust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406640" y="55138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reliable price estimates for buyers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relational, multi-table automotive retail dataset simulating real-world dealer &amp; sales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1031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7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3088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800,000  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3931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records linking dealers &amp; products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9202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s/car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3088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34340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 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343400" y="3931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57200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catalog with model &amp; pricing details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38160" y="192024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509760" y="2103120"/>
            <a:ext cx="822960" cy="822960"/>
          </a:xfrm>
          <a:prstGeom prst="ellipse">
            <a:avLst/>
          </a:prstGeom>
          <a:solidFill>
            <a:srgbClr val="3E5C9A"/>
          </a:solidFill>
          <a:ln/>
        </p:spPr>
      </p:sp>
      <p:pic>
        <p:nvPicPr>
          <p:cNvPr id="21" name="Image 2" descr="icons/mapma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230886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13816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138160" y="3931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36676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Dealer-level location &amp; identifier information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Included:  Maruti_Suzuki_Sales.csv  •  Maruti_Suzuki_Products.csv  •  Maruti_Suzuki_Dealers.csv  — joined on ProductID &amp; DealerCode to build the master analytical dataset.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184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08760" y="21259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7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10" y="22974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relational CSVs: Sales, Products, Dealers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6184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51960" y="21259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1" descr="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410" y="22974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duplicates, price formatting fixed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17" name="Text 13"/>
          <p:cNvSpPr/>
          <p:nvPr/>
        </p:nvSpPr>
        <p:spPr>
          <a:xfrm>
            <a:off x="6172200" y="16184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995160" y="21259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9" name="Image 2" descr="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610" y="229743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Joins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7220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a single master dataset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7782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23" name="Text 18"/>
          <p:cNvSpPr/>
          <p:nvPr/>
        </p:nvSpPr>
        <p:spPr>
          <a:xfrm>
            <a:off x="8915400" y="16184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9738360" y="21259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5" name="Image 3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9810" y="229743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154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915400" y="3291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Discount%, Date parts, Delivery status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4069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" y="41788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508760" y="468630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4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0210" y="4857750"/>
            <a:ext cx="342900" cy="3429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580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685800" y="5852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bivariate, correlation &amp; outliers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291840" y="4069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35" name="Text 28"/>
          <p:cNvSpPr/>
          <p:nvPr/>
        </p:nvSpPr>
        <p:spPr>
          <a:xfrm>
            <a:off x="3429000" y="41788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4251960" y="468630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7" name="Image 5" descr="icons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3410" y="4857750"/>
            <a:ext cx="342900" cy="3429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42900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429000" y="5852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Decision Tree, Random Forest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035040" y="4069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41" name="Text 33"/>
          <p:cNvSpPr/>
          <p:nvPr/>
        </p:nvSpPr>
        <p:spPr>
          <a:xfrm>
            <a:off x="6172200" y="41788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Shape 34"/>
          <p:cNvSpPr/>
          <p:nvPr/>
        </p:nvSpPr>
        <p:spPr>
          <a:xfrm>
            <a:off x="6995160" y="468630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43" name="Image 6" descr="icons/aw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6610" y="4857750"/>
            <a:ext cx="342900" cy="3429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17220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Selection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6172200" y="5852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R², MAE, RMSE, MAPE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8778240" y="40690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41B49"/>
          </a:solidFill>
          <a:ln/>
        </p:spPr>
      </p:sp>
      <p:sp>
        <p:nvSpPr>
          <p:cNvPr id="47" name="Text 38"/>
          <p:cNvSpPr/>
          <p:nvPr/>
        </p:nvSpPr>
        <p:spPr>
          <a:xfrm>
            <a:off x="8915400" y="41788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8" name="Shape 39"/>
          <p:cNvSpPr/>
          <p:nvPr/>
        </p:nvSpPr>
        <p:spPr>
          <a:xfrm>
            <a:off x="9738360" y="468630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49" name="Image 7" descr="icons/lightbul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9810" y="4857750"/>
            <a:ext cx="342900" cy="34290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915400" y="5486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8915400" y="5852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for pricing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Assessment — Missing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1264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Table — 800,000 rows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103120"/>
          <a:ext cx="5532120" cy="3017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dropped (primary key)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dropped (transaction key)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FinancePartner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571,723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'No Finance'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BookingToDeliveryDays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2103120"/>
            <a:ext cx="5532120" cy="45720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103120"/>
          <a:ext cx="5532120" cy="457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52120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cleaned: hidden null strings ('NA','NULL','None') standardized to NaN; ExShowroomPrice stripped of currency symbols/commas and cast to numeric; 0 duplicate rows found.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903720" y="141732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7"/>
          <p:cNvSpPr/>
          <p:nvPr/>
        </p:nvSpPr>
        <p:spPr>
          <a:xfrm>
            <a:off x="7292340" y="162306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0" descr="icons/b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790" y="17945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1691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Philosophy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178040" y="2569464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0"/>
          <p:cNvSpPr/>
          <p:nvPr/>
        </p:nvSpPr>
        <p:spPr>
          <a:xfrm>
            <a:off x="7360920" y="2441448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is a primary key — without it, model, segment and revenue-by-model cannot be identified, so affected rows (~0.2%) were removed rather than imputed.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178040" y="3493008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2"/>
          <p:cNvSpPr/>
          <p:nvPr/>
        </p:nvSpPr>
        <p:spPr>
          <a:xfrm>
            <a:off x="7360920" y="3364992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FinancePartner nulls (71.5%) represent customers who did not use financing — logically imputed as 'No Finance', not a data error.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178040" y="44165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4"/>
          <p:cNvSpPr/>
          <p:nvPr/>
        </p:nvSpPr>
        <p:spPr>
          <a:xfrm>
            <a:off x="7360920" y="4288536"/>
            <a:ext cx="411480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SatisfactionScore &amp; BookingToDeliveryDays nulls were low-volume and numeric, so median imputation preserved distribution shape.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178040" y="5340096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6"/>
          <p:cNvSpPr/>
          <p:nvPr/>
        </p:nvSpPr>
        <p:spPr>
          <a:xfrm>
            <a:off x="7360920" y="5212080"/>
            <a:ext cx="41148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(57 rows) and Dealers (16 rows) tables had zero missing values.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Joins &amp; 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Master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50" dirty="0"/>
          </a:p>
        </p:txBody>
      </p:sp>
      <p:pic>
        <p:nvPicPr>
          <p:cNvPr id="8" name="Image 0" descr="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462237"/>
            <a:ext cx="32004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51760" y="2194091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2651760" y="22860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pic>
        <p:nvPicPr>
          <p:cNvPr id="11" name="Image 1" descr="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468880"/>
            <a:ext cx="32004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34840" y="2194091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3E5C9A"/>
          </a:solidFill>
          <a:ln/>
        </p:spPr>
      </p:sp>
      <p:sp>
        <p:nvSpPr>
          <p:cNvPr id="13" name="Text 9"/>
          <p:cNvSpPr/>
          <p:nvPr/>
        </p:nvSpPr>
        <p:spPr>
          <a:xfrm>
            <a:off x="4434840" y="22860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3017989"/>
            <a:ext cx="4846320" cy="374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sales.merge(products, on='ProductID').merge(dealers, on='DealerCode')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68680" y="31089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joins preserve every sales transaction while enriching it with model, segment, price and dealer/location attributes.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4160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Post-Join Fixes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68680" y="45262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SaleDate converted to datetime (mixed, day-first format)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BookingToDeliveryDays cast to integer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split into categorical vs numerical for targeted EDA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60820" y="16687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2" descr="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184023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0664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9037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90372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OnRoadPrice x UnitsSold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903720" y="3172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PriceDifference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903720" y="3447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OnRoadPrice minus ExShowroomPrice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903720" y="38313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DiscountPercent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903720" y="41056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(DiscountApplied / ExShowroomPrice) x 100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903720" y="4489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903720" y="47640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'Delayed' if BookingToDeliveryDays &gt; 30, else 'On Time'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903720" y="5148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 / Day / Quarter / DayOfWeek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903720" y="5422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SaleDate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6230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ar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7716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Hatchback, Sedan, SUV, MUV, Van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Hatchback is the most common segment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4173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9140" y="16230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17716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600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(budget) vs Nexa (premium)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0" y="2880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50/50 sales split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4173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43900" y="16230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gaspu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490" y="177165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6002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FuelType / AvailableFuels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6676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Petrol, Petrol+CNG, Petrol Hybrid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366760" y="2880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dominates; Hybrid is premium tier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4380" y="39547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410337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7724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MT, AT, AMT, CVT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Evenly distributed across all 4 types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4340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49140" y="39547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730" y="4103370"/>
            <a:ext cx="297180" cy="2971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CustomerType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7200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Corporate, Fleet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buyers are the largest group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3816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43900" y="39547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icons/moneybi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490" y="4103370"/>
            <a:ext cx="297180" cy="2971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52560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PaymentMode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366760" y="4617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Loan, Lease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8366760" y="5212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distribution; Loan slightly higher AOV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Feature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ExShowroomPrice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₹8.8L </a:t>
            </a: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showroom price before adjustments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OnRoadPrice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₹9.1L avg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to be predicted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DiscountApplied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₹12.5K avg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uniform across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9718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SatisfactionScore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 avg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high across all segments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BookingToDeliveryDays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days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5394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delivery turnaround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0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83680" y="4937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Right-skewed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83680" y="5394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premium, high-volume sales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BIVARIATE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Leaders: Model-wise Performance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468178"/>
              </p:ext>
            </p:extLst>
          </p:nvPr>
        </p:nvGraphicFramePr>
        <p:xfrm>
          <a:off x="548640" y="1516575"/>
          <a:ext cx="6400800" cy="3246117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OnRoadPrice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₹15.42L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₹1.73M avg/txn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Vitara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₹15.42L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₹1.72M avg/txn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₹14.42L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₹1.61M avg/txn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₹12.39L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₹1.39M avg/txn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Upper-Mid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Baleno 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₹11.38L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₹1.27M avg/txn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Upper-Mid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₹3.81L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₹0.48M avg/txn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08760"/>
            <a:ext cx="6400800" cy="45720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00800" cy="457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OnRoadPrice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24385" y="1516575"/>
            <a:ext cx="4416552" cy="4617720"/>
          </a:xfrm>
          <a:prstGeom prst="roundRect">
            <a:avLst>
              <a:gd name="adj" fmla="val 1656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543800" y="17373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9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20" y="1897380"/>
            <a:ext cx="320040" cy="320040"/>
          </a:xfrm>
          <a:prstGeom prst="rect">
            <a:avLst/>
          </a:prstGeom>
        </p:spPr>
      </p:pic>
      <p:sp>
        <p:nvSpPr>
          <p:cNvPr id="4" name="Text 5"/>
          <p:cNvSpPr/>
          <p:nvPr/>
        </p:nvSpPr>
        <p:spPr>
          <a:xfrm>
            <a:off x="82753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467874" y="2652816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7"/>
          <p:cNvSpPr/>
          <p:nvPr/>
        </p:nvSpPr>
        <p:spPr>
          <a:xfrm>
            <a:off x="7635240" y="2258568"/>
            <a:ext cx="38404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Vitara &amp; Jimny command the highest average On-Road Price (~₹15.4L) — the true premium tier.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452360" y="3468780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9"/>
          <p:cNvSpPr/>
          <p:nvPr/>
        </p:nvSpPr>
        <p:spPr>
          <a:xfrm>
            <a:off x="7635240" y="3236976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is the most affordable model (~₹3.8L), anchoring the entry-level segment.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452360" y="4229100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1"/>
          <p:cNvSpPr/>
          <p:nvPr/>
        </p:nvSpPr>
        <p:spPr>
          <a:xfrm>
            <a:off x="7635240" y="3995928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consistently with OnRoadPrice — a strong positive price-revenue relationship.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461504" y="5088636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3"/>
          <p:cNvSpPr/>
          <p:nvPr/>
        </p:nvSpPr>
        <p:spPr>
          <a:xfrm>
            <a:off x="7635240" y="4754880"/>
            <a:ext cx="38404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models had comparable unit sales counts (~42K each) — the dataset is well balanced by volume.</a:t>
            </a:r>
            <a:endParaRPr lang="en-US" sz="1200" dirty="0"/>
          </a:p>
        </p:txBody>
      </p:sp>
      <p:sp>
        <p:nvSpPr>
          <p:cNvPr id="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BIVARIATE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Drivers: Segment, Variant &amp; Fuel 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Segment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₹12.48L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9908"/>
            <a:ext cx="2011680" cy="590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194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₹10.88L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2011680" cy="598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377441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₹9.37L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2011680" cy="674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609949"/>
            <a:ext cx="1371600" cy="85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₹6.64L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038388"/>
            <a:ext cx="2011680" cy="408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739292"/>
            <a:ext cx="1371600" cy="1071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₹4.31L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5322" y="3592343"/>
            <a:ext cx="3148038" cy="42828"/>
          </a:xfrm>
          <a:prstGeom prst="line">
            <a:avLst/>
          </a:prstGeom>
          <a:noFill/>
          <a:ln w="12700">
            <a:solidFill>
              <a:srgbClr val="E7EA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560320"/>
            <a:ext cx="3200400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SUVs are the most premium &amp; profitable segment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1470855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Variant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(Top)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₹9.71L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(Mid)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₹9.02L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(Base)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₹8.58L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611880"/>
            <a:ext cx="3200400" cy="0"/>
          </a:xfrm>
          <a:prstGeom prst="line">
            <a:avLst/>
          </a:prstGeom>
          <a:noFill/>
          <a:ln w="12700">
            <a:solidFill>
              <a:srgbClr val="E7EA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794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consistently V1 → V3 — clear premium tiering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146304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6676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Fuel Type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667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Hybrid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₹14.92L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667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₹10.45L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6676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Petrol+CNG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4128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₹6.99L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66760" y="3611880"/>
            <a:ext cx="3200400" cy="0"/>
          </a:xfrm>
          <a:prstGeom prst="line">
            <a:avLst/>
          </a:prstGeom>
          <a:noFill/>
          <a:ln w="12700">
            <a:solidFill>
              <a:srgbClr val="E7EA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7947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vehicles are the premium fuel category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NUMERICAL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065" y="1450535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OnRoadPrice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ExShowroom</a:t>
            </a: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2286000"/>
            <a:ext cx="3291840" cy="256032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578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BasePrice Variant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3063240"/>
            <a:ext cx="3291840" cy="256032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3063240"/>
            <a:ext cx="3272089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3558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3840480"/>
            <a:ext cx="3291840" cy="256032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3840480"/>
            <a:ext cx="2435962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41330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0" y="4617720"/>
            <a:ext cx="3291840" cy="256032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4617720"/>
            <a:ext cx="65837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49103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51760" y="5394960"/>
            <a:ext cx="3291840" cy="256032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24" name="Shape 22"/>
          <p:cNvSpPr/>
          <p:nvPr/>
        </p:nvSpPr>
        <p:spPr>
          <a:xfrm>
            <a:off x="2651760" y="5394960"/>
            <a:ext cx="16459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56875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60820" y="16687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8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1840230"/>
            <a:ext cx="342900" cy="3429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40664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Correlation Insights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178040" y="2523744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1" name="Text 28"/>
          <p:cNvSpPr/>
          <p:nvPr/>
        </p:nvSpPr>
        <p:spPr>
          <a:xfrm>
            <a:off x="7360920" y="2395728"/>
            <a:ext cx="40233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ExShowroomPrice (0.999) &amp; BasePriceVariant (0.994) are near-perfect predictors — but excluded to avoid data leakage / multicollinearity.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178040" y="350215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3" name="Text 30"/>
          <p:cNvSpPr/>
          <p:nvPr/>
        </p:nvSpPr>
        <p:spPr>
          <a:xfrm>
            <a:off x="7360920" y="3374136"/>
            <a:ext cx="4023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(0.74) correlates strongly with price, as expected since Revenue = Price x UnitsSold.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178040" y="4261104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5" name="Text 32"/>
          <p:cNvSpPr/>
          <p:nvPr/>
        </p:nvSpPr>
        <p:spPr>
          <a:xfrm>
            <a:off x="7360920" y="4133088"/>
            <a:ext cx="40233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DiscountPercent (-0.50) shows moderate negative correlation — higher discounts associate with lower final price.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178040" y="5239512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7" name="Text 34"/>
          <p:cNvSpPr/>
          <p:nvPr/>
        </p:nvSpPr>
        <p:spPr>
          <a:xfrm>
            <a:off x="7360920" y="5111496"/>
            <a:ext cx="40233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SatisfactionScore &amp; BookingToDeliveryDays show virtually no linear relationship with pricing.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0" name="Image 0" descr="/home/claude/deck/images/corr_heat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066" y="1463040"/>
            <a:ext cx="5381974" cy="46509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&amp; Skewness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Outlier Summary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4937760" cy="318211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UnitsSold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— genuine volume variation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— driven by premium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DiscountPercent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— valid promo campaigns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— real customer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ExShowroomPrice / OnRoadPrice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outliers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4937760" cy="457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22960" y="5394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were removed — all reflect genuine business variation rather than data errors</a:t>
            </a: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52260" y="1668780"/>
            <a:ext cx="685800" cy="6858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1840230"/>
            <a:ext cx="342900" cy="342900"/>
          </a:xfrm>
          <a:prstGeom prst="rect">
            <a:avLst/>
          </a:prstGeom>
        </p:spPr>
      </p:pic>
      <p:sp>
        <p:nvSpPr>
          <p:cNvPr id="6" name="Text 8"/>
          <p:cNvSpPr/>
          <p:nvPr/>
        </p:nvSpPr>
        <p:spPr>
          <a:xfrm>
            <a:off x="7498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 Findings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99516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UnitsSold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9692640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3.35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995160" y="2761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right-skewed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99516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692640" y="31272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995160" y="34198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right-skewed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995160" y="37856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DiscountPercent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692640" y="378561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995160" y="40782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right-skewed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995160" y="4443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ExShowroomPrice / OnRoadPrice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9692640" y="44439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~0.30</a:t>
            </a:r>
            <a:endParaRPr lang="en-US" sz="1600" dirty="0"/>
          </a:p>
        </p:txBody>
      </p:sp>
      <p:sp>
        <p:nvSpPr>
          <p:cNvPr id="8" name="Text 20"/>
          <p:cNvSpPr/>
          <p:nvPr/>
        </p:nvSpPr>
        <p:spPr>
          <a:xfrm>
            <a:off x="6995160" y="4736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symmetric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995160" y="5102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SatisfactionScore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9692640" y="51023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995160" y="5303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symmetric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510215" y="5623560"/>
            <a:ext cx="496550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Decision Tree &amp; Random Forest are tree-based (split-based, not distance-based), no transformation (log/box-cox) was required despite skew.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 —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41B49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training (to prevent leakage / multicollinearity):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ExShowroomPrice, BasePriceVariant, PriceDifference, DiscountPercent, DiscountApplied, Revenue, UnitsSold, ProductID, InvoiceID, DealerCode, Day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as predictors: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0233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FuelType, Transmission, Color, Channel, FinancePartner, CustomerType, PaymentMode, SatisfactionScore, BookingToDeliveryDays, Model, VariantCode, Segment, AvailableFuels, DealerName, City, State, Delivery_Status, Year, Month, Quarter, DayOfWeek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5623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OnRoadPrice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41B49"/>
          </a:solidFill>
          <a:ln w="12700">
            <a:solidFill>
              <a:srgbClr val="E7EA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173736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5" name="Image 1" descr="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18973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Split Strategy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995160" y="2651760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4"/>
          <p:cNvSpPr/>
          <p:nvPr/>
        </p:nvSpPr>
        <p:spPr>
          <a:xfrm>
            <a:off x="7223760" y="24963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223760" y="2788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 columns encoded via sklearn LabelEncoder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995160" y="3474720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7"/>
          <p:cNvSpPr/>
          <p:nvPr/>
        </p:nvSpPr>
        <p:spPr>
          <a:xfrm>
            <a:off x="7223760" y="33192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223760" y="3611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random_state = 42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995160" y="4297680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0"/>
          <p:cNvSpPr/>
          <p:nvPr/>
        </p:nvSpPr>
        <p:spPr>
          <a:xfrm>
            <a:off x="7223760" y="41422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223760" y="4434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-&gt; Decision Tree -&gt; Random Forest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995160" y="5120640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3"/>
          <p:cNvSpPr/>
          <p:nvPr/>
        </p:nvSpPr>
        <p:spPr>
          <a:xfrm>
            <a:off x="7223760" y="49651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7223760" y="5257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MSE, RMSE, MAPE — computed on both sets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Baseline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44.76%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45.06%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₹225.5K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782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083564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7224" y="3281211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0" descr="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45186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33375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28858" y="4347855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3931920"/>
            <a:ext cx="996696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only ~45% of the variation in OnRoadPrice — vehicle pricing is not a purely linear function of the available features.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51718" y="4750191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" y="4453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(MAE) is ~₹2.25 lakh, with RMSE ~₹2.69 lakh — some predictions are far off.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37260" y="5120914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0" y="4800600"/>
            <a:ext cx="99669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scores are nearly identical, so the model is not overfitting — it is simply too simple for the pattern.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45465" y="5458968"/>
            <a:ext cx="91440" cy="914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4"/>
          <p:cNvSpPr/>
          <p:nvPr/>
        </p:nvSpPr>
        <p:spPr>
          <a:xfrm>
            <a:off x="1143000" y="525780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useful only as a sanity-check baseline; motivates moving to non-linear, tree-based models.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Regressor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= 10   •   min_samples_split = 10   •   min_samples_leaf = 5   •   random_state = 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243584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2004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98.66%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37944" y="3108960"/>
            <a:ext cx="1243584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37944" y="32004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98.64%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37944" y="370332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27248" y="3108960"/>
            <a:ext cx="1243584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27248" y="32004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₹33.7K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27248" y="370332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16552" y="3108960"/>
            <a:ext cx="1243584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16552" y="320040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3.83%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16552" y="370332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6634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33x jump in R² over Linear Regression — the tree splits on feature thresholds and captures the non-linear pricing structure that a straight line cannot.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1463040"/>
            <a:ext cx="571500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691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3" name="Image 0" descr="icons/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85166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13232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Decision Tree Wins Big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63979" y="2767115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3"/>
          <p:cNvSpPr/>
          <p:nvPr/>
        </p:nvSpPr>
        <p:spPr>
          <a:xfrm>
            <a:off x="7040880" y="2395728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dropped from ₹2.25 lakh (Linear) to just ₹33.7K — a dramatic accuracy gain.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0" y="3481558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8" name="Text 25"/>
          <p:cNvSpPr/>
          <p:nvPr/>
        </p:nvSpPr>
        <p:spPr>
          <a:xfrm>
            <a:off x="7040880" y="3136392"/>
            <a:ext cx="44805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of 98.64% means the model explains almost all price variation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63979" y="4129610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0" name="Text 27"/>
          <p:cNvSpPr/>
          <p:nvPr/>
        </p:nvSpPr>
        <p:spPr>
          <a:xfrm>
            <a:off x="7040880" y="37033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gap between Train R² (98.66%) and Test R² (98.64%) shows strong generalization — no meaningful overfitting.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58000" y="4914900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2" name="Text 29"/>
          <p:cNvSpPr/>
          <p:nvPr/>
        </p:nvSpPr>
        <p:spPr>
          <a:xfrm>
            <a:off x="7040880" y="4517136"/>
            <a:ext cx="4480560" cy="828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of 3.83% means predictions are ~96% accurate on average.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858000" y="5506798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4" name="Text 31"/>
          <p:cNvSpPr/>
          <p:nvPr/>
        </p:nvSpPr>
        <p:spPr>
          <a:xfrm>
            <a:off x="7040880" y="5038344"/>
            <a:ext cx="4480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interactions like Model x AvailableFuels x Segment that Linear Regression cannot represent.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OF 3 — FINAL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 (Selected Model)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98.88%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554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40280" y="2057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554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₹33.6K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2057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5544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3.83%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23560" y="2057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n_estimators=200 | max_depth=15 | min_samples_split=5 | min_samples_leaf=2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64008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(Top 5)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886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AvailableFuels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23160" y="3941064"/>
            <a:ext cx="3474720" cy="219456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23160" y="3941064"/>
            <a:ext cx="3474720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886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43.6%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370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4425696"/>
            <a:ext cx="3474720" cy="219456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23160" y="4425696"/>
            <a:ext cx="3108121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43708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85546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23160" y="4910328"/>
            <a:ext cx="3474720" cy="219456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23160" y="4910328"/>
            <a:ext cx="661472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485546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53400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FuelType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23160" y="5394960"/>
            <a:ext cx="3474720" cy="219456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23160" y="5394960"/>
            <a:ext cx="549898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53400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8247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VariantCode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5879592"/>
            <a:ext cx="3474720" cy="219456"/>
          </a:xfrm>
          <a:prstGeom prst="rect">
            <a:avLst/>
          </a:prstGeom>
          <a:solidFill>
            <a:srgbClr val="E7EAF3"/>
          </a:solidFill>
          <a:ln/>
        </p:spPr>
      </p:sp>
      <p:sp>
        <p:nvSpPr>
          <p:cNvPr id="37" name="Shape 35"/>
          <p:cNvSpPr/>
          <p:nvPr/>
        </p:nvSpPr>
        <p:spPr>
          <a:xfrm>
            <a:off x="2423160" y="5879592"/>
            <a:ext cx="159391" cy="2194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5824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23760" y="1463040"/>
            <a:ext cx="4416552" cy="4709160"/>
          </a:xfrm>
          <a:prstGeom prst="roundRect">
            <a:avLst>
              <a:gd name="adj" fmla="val 1656"/>
            </a:avLst>
          </a:prstGeom>
          <a:solidFill>
            <a:srgbClr val="1E2761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89520" y="1691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41" name="Image 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1851660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36676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is Final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7452360" y="2775204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4" name="Text 41"/>
          <p:cNvSpPr/>
          <p:nvPr/>
        </p:nvSpPr>
        <p:spPr>
          <a:xfrm>
            <a:off x="7635240" y="2350008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Train &amp; Test R² among all 3 models.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452360" y="3420833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6" name="Text 43"/>
          <p:cNvSpPr/>
          <p:nvPr/>
        </p:nvSpPr>
        <p:spPr>
          <a:xfrm>
            <a:off x="7635240" y="3145536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MAE, MSE and RMSE — most accurate predictions.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452360" y="4131095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8" name="Text 45"/>
          <p:cNvSpPr/>
          <p:nvPr/>
        </p:nvSpPr>
        <p:spPr>
          <a:xfrm>
            <a:off x="7635240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3.83% average prediction error (MAPE).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7452360" y="4864608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50" name="Text 47"/>
          <p:cNvSpPr/>
          <p:nvPr/>
        </p:nvSpPr>
        <p:spPr>
          <a:xfrm>
            <a:off x="7635240" y="45445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Train-Test gap = excellent generalization, no overfitting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52360" y="5660136"/>
            <a:ext cx="82296" cy="8229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52" name="Text 49"/>
          <p:cNvSpPr/>
          <p:nvPr/>
        </p:nvSpPr>
        <p:spPr>
          <a:xfrm>
            <a:off x="7635240" y="534009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AvailableFuels &amp; Model alone drive ~82% of predictive power.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All Models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226771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₹2,25,458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₹2,68,625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₹33,664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₹42,172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₹33,633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₹42,076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A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08760"/>
            <a:ext cx="11091672" cy="50292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5029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145536"/>
            <a:ext cx="11091672" cy="566928"/>
          </a:xfrm>
          <a:prstGeom prst="rect">
            <a:avLst/>
          </a:prstGeom>
          <a:solidFill>
            <a:srgbClr val="FDEBEC"/>
          </a:solidFill>
          <a:ln w="15875">
            <a:solidFill>
              <a:srgbClr val="C8102E"/>
            </a:solidFill>
            <a:prstDash val="solid"/>
          </a:ln>
        </p:spPr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45536"/>
          <a:ext cx="11091672" cy="56692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₹33,633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₹42,076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343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548640" y="4343400"/>
            <a:ext cx="73152" cy="1828800"/>
          </a:xfrm>
          <a:prstGeom prst="rect">
            <a:avLst/>
          </a:prstGeom>
          <a:solidFill>
            <a:srgbClr val="5B6478"/>
          </a:solidFill>
          <a:ln/>
        </p:spPr>
      </p:sp>
      <p:sp>
        <p:nvSpPr>
          <p:cNvPr id="11" name="Text 6"/>
          <p:cNvSpPr/>
          <p:nvPr/>
        </p:nvSpPr>
        <p:spPr>
          <a:xfrm>
            <a:off x="82296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only — cannot capture non-linear pricing relationships.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325112" y="4343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325112" y="434340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0"/>
          <p:cNvSpPr/>
          <p:nvPr/>
        </p:nvSpPr>
        <p:spPr>
          <a:xfrm>
            <a:off x="4599432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99432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accuracy leap; excellent but slightly higher variance risk than ensemble.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01584" y="4343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13"/>
          <p:cNvSpPr/>
          <p:nvPr/>
        </p:nvSpPr>
        <p:spPr>
          <a:xfrm>
            <a:off x="8101584" y="4343400"/>
            <a:ext cx="73152" cy="1828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4"/>
          <p:cNvSpPr/>
          <p:nvPr/>
        </p:nvSpPr>
        <p:spPr>
          <a:xfrm>
            <a:off x="8375904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⭐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75904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— highest accuracy, lowest error, best generalization. Selected as final model.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687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awar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840" y="18059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9047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models (Grand Vitara, Jimny, Invicto) drive the highest average price &amp; revenue.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6687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gaspump.png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20840" y="18059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49047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Hybrid vehicles are the top-revenue fuel category.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6060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28575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/cardetail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840" y="29946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267919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SUVs &amp; MUVs consistently generate the highest average selling price.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26060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83680" y="28575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s/tags.png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20840" y="29946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267919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variants (V3) command higher prices — premium pricing strategy is working.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0462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s/star.png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840" y="41833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386791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(~84.4) is stable across models, variants &amp; fuel types.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3794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0" y="40462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icons/percent.png"/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20840" y="418338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386791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nearly uniform across categories — a standardized discount policy.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49834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icons/handshake.png"/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840" y="538773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54480" y="505663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&amp; sales channel have minimal influence on final vehicle price.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63640" y="49834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583680" y="52349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icons/brain.png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20840" y="537210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69480" y="5056632"/>
            <a:ext cx="42062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AvailableFuels, Model, Segment &amp; VariantCode are the top predictors of price.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&amp; inventory on premium models (Grand Vitara, Jimny, Invicto) to maximize revenue.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8040" y="1581912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Petrol Hybrid vehicles to drive high-value sales further.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077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889504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SUV &amp; MUV offerings — they generate the highest average selling prices.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770632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9077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889504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upgrades to higher variants (V2/V3) through value-based marketing campaigns.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153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197096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current discount strategy — it is already consistent across vehicle categories.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78224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21538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4197096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product-level features (Model, Segment, AvailableFuels, VariantCode) in pricing &amp; forecasting tools.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85816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22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5504688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Random Forest model for real-time, accurate price quotation and decision-making.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5385816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141B49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522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78040" y="5504688"/>
            <a:ext cx="42976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 periodically with fresh sales data to sustain prediction accuracy over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423160"/>
            <a:ext cx="2011680" cy="20116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4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260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Next Steps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26280" y="777240"/>
            <a:ext cx="71323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960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00600" y="141732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merged 800K+ transaction records across 3 relational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(Revenue, DiscountPercent, Delivery_Status, date parts)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deep univariate, bivariate &amp; correlation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compared 3 ML models — selected Random Forest (98.65% Test R², 3.83% MAPE)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26280" y="3749040"/>
            <a:ext cx="7132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AF3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39319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0600" y="438912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model as an internal pricing API for dealers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Gradient Boosting / XGBoost for further accuracy gains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scheduled retraining pipeline as new sales data arrives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943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 Suzuki Price Prediction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2311</Words>
  <Application>Microsoft Office PowerPoint</Application>
  <PresentationFormat>Widescreen</PresentationFormat>
  <Paragraphs>513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Maruti Suzuki On-Road Price Prediction</dc:title>
  <dc:subject>PptxGenJS Presentation</dc:subject>
  <dc:creator>Data Analytics Team</dc:creator>
  <cp:lastModifiedBy>Hp</cp:lastModifiedBy>
  <cp:revision>12</cp:revision>
  <dcterms:created xsi:type="dcterms:W3CDTF">2026-07-01T23:59:53Z</dcterms:created>
  <dcterms:modified xsi:type="dcterms:W3CDTF">2026-07-02T22:13:40Z</dcterms:modified>
</cp:coreProperties>
</file>