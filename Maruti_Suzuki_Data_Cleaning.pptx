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 remaining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484-4A8C-B761-FB7D651DABC2}"/>
              </c:ext>
            </c:extLst>
          </c:dPt>
          <c:dPt>
            <c:idx val="1"/>
            <c:invertIfNegative val="0"/>
            <c:bubble3D val="0"/>
            <c:spPr>
              <a:solidFill>
                <a:srgbClr val="415A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84-4A8C-B761-FB7D651DABC2}"/>
              </c:ext>
            </c:extLst>
          </c:dPt>
          <c:dPt>
            <c:idx val="2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84-4A8C-B761-FB7D651DAB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Raw
(800,000)</c:v>
                </c:pt>
                <c:pt idx="1">
                  <c:v>After ProductID
drop (798,430)</c:v>
                </c:pt>
                <c:pt idx="2">
                  <c:v>After InvoiceID
drop (797,687)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800000</c:v>
                </c:pt>
                <c:pt idx="1">
                  <c:v>798430</c:v>
                </c:pt>
                <c:pt idx="2">
                  <c:v>797687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484-4A8C-B761-FB7D651DAB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796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FinancePartner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4F6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F54-4B45-ABAA-3FF78B40140E}"/>
              </c:ext>
            </c:extLst>
          </c:dPt>
          <c:dPt>
            <c:idx val="1"/>
            <c:bubble3D val="0"/>
            <c:spPr>
              <a:solidFill>
                <a:srgbClr val="1421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54-4B45-ABAA-3FF78B40140E}"/>
              </c:ext>
            </c:extLst>
          </c:dPt>
          <c:cat>
            <c:strRef>
              <c:f>Sheet1!$A$2:$A$3</c:f>
              <c:strCache>
                <c:ptCount val="2"/>
                <c:pt idx="0">
                  <c:v>Missing (cash/lease, 71.5%)</c:v>
                </c:pt>
                <c:pt idx="1">
                  <c:v>Present (loan-financed, 28.5%)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571723</c:v>
                </c:pt>
                <c:pt idx="1">
                  <c:v>228277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F54-4B45-ABAA-3FF78B401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2955082742316792E-2"/>
          <c:y val="0.88860099518810154"/>
          <c:w val="0.89704491725768321"/>
          <c:h val="9.0565671478565174E-2"/>
        </c:manualLayout>
      </c:layout>
      <c:overlay val="0"/>
      <c:txPr>
        <a:bodyPr/>
        <a:lstStyle/>
        <a:p>
          <a:pPr>
            <a:defRPr sz="10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526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415A7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C8102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960120" cy="960120"/>
          </a:xfrm>
          <a:prstGeom prst="ellipse">
            <a:avLst/>
          </a:prstGeom>
          <a:solidFill>
            <a:srgbClr val="C810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923544"/>
            <a:ext cx="484632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DATA PREPARATION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Case Study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89811" y="3520439"/>
            <a:ext cx="9734349" cy="1195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Dataset — From Raw Transactional Records to Model-Ready </a:t>
            </a:r>
            <a:r>
              <a:rPr lang="en-US" sz="2000" dirty="0" smtClean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</a:p>
          <a:p>
            <a:pPr marL="0" indent="0">
              <a:buNone/>
            </a:pPr>
            <a:endParaRPr lang="en-US" sz="1200" dirty="0">
              <a:solidFill>
                <a:srgbClr val="C9D3E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– Santosh Gautam | Aspiring Data Analyst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4892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800,000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22960" y="5394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Sales Records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69080" y="4892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17 -&gt; 25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069080" y="5394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 Enrichment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0" y="4892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797,687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315200" y="5394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Validated Rows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3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</a:t>
            </a:r>
            <a:r>
              <a:rPr lang="en-US" sz="1100" i="1" dirty="0" smtClean="0">
                <a:solidFill>
                  <a:srgbClr val="83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by-Santosh Gautam </a:t>
            </a:r>
            <a:r>
              <a:rPr lang="en-US" sz="1100" i="1" dirty="0">
                <a:solidFill>
                  <a:srgbClr val="83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smtClean="0">
                <a:solidFill>
                  <a:srgbClr val="83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</a:t>
            </a:r>
            <a:r>
              <a:rPr lang="en-US" sz="1100" i="1" dirty="0" smtClean="0">
                <a:solidFill>
                  <a:srgbClr val="83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100" i="1" dirty="0">
                <a:solidFill>
                  <a:srgbClr val="83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</a:t>
            </a:r>
            <a:r>
              <a:rPr lang="en-US" sz="1100" i="1" dirty="0" smtClean="0">
                <a:solidFill>
                  <a:srgbClr val="83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100" i="1" dirty="0">
                <a:solidFill>
                  <a:srgbClr val="83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349240" cy="768096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3232" y="1783080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17320" y="17647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09397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Products &amp; Dealer master tables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587752"/>
            <a:ext cx="5349240" cy="768096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3232" y="267919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417320" y="26609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Cleaning Matters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299008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dirty data in ML pipelines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483864"/>
            <a:ext cx="5349240" cy="768096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13232" y="3575304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417320" y="35570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Audit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417320" y="38862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raw structure with df.info()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379976"/>
            <a:ext cx="5349240" cy="768096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13232" y="4471416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417320" y="44531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Null Detection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417320" y="478231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 missing-value markers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5276088"/>
            <a:ext cx="5349240" cy="768096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13232" y="5367528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417320" y="53492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Field Corruption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17320" y="567842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symbols &amp; unit suffixes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217920" y="1691640"/>
            <a:ext cx="5349240" cy="768096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382512" y="1783080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7086600" y="17647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Diagnostics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86600" y="209397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the damage column by column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217920" y="2587752"/>
            <a:ext cx="5349240" cy="768096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382512" y="267919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7086600" y="26609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vs. Impute Framework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086600" y="299008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 / MAR / MNAR decision logic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217920" y="3483864"/>
            <a:ext cx="5349240" cy="768096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382512" y="3575304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7086600" y="35570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Key Removal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086600" y="38862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&amp; InvoiceID row drops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217920" y="4379976"/>
            <a:ext cx="5349240" cy="768096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6382512" y="4471416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sp>
        <p:nvSpPr>
          <p:cNvPr id="40" name="Text 37"/>
          <p:cNvSpPr/>
          <p:nvPr/>
        </p:nvSpPr>
        <p:spPr>
          <a:xfrm>
            <a:off x="7086600" y="44531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Imputation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086600" y="478231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FinancePartner, Satisfaction, Delivery Days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217920" y="5276088"/>
            <a:ext cx="5349240" cy="768096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6382512" y="5367528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7086600" y="53492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Table Joins &amp; Validation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7086600" y="567842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final QA, and takeaways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Tables, One Sales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AEE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6596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14213D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34564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800,000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rows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22960" y="3931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columns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296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log: one row per invoice line - date, dealer, pricing, financing, customer &amp; satisfaction fields.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79976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BEAE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54296" y="196596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C8102E"/>
          </a:solidFill>
          <a:ln/>
        </p:spPr>
      </p:sp>
      <p:sp>
        <p:nvSpPr>
          <p:cNvPr id="15" name="Text 12"/>
          <p:cNvSpPr/>
          <p:nvPr/>
        </p:nvSpPr>
        <p:spPr>
          <a:xfrm>
            <a:off x="4654296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654296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654296" y="34564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rows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4654296" y="3931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columns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654296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catalog - ProductID, Model, Variant, Segment, base price and available fuel types.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11312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85632" y="196596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415A77"/>
          </a:solidFill>
          <a:ln/>
        </p:spPr>
      </p:sp>
      <p:sp>
        <p:nvSpPr>
          <p:cNvPr id="22" name="Text 19"/>
          <p:cNvSpPr/>
          <p:nvPr/>
        </p:nvSpPr>
        <p:spPr>
          <a:xfrm>
            <a:off x="8485632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8485632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Dealers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485632" y="34564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rows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8485632" y="3931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columns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485632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master - DealerCode, DealerName, City, State for the Delhi-NCR network.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CONTEXT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Cleaning Drives Model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745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0" y="18745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4114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0" y="4114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9692" y="2020824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996" y="213969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7797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14400" y="297180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string-typed ExShowroomPrice ('Rs871980') silently breaks any regression or price-prediction feature - models read it as missing or fail to parse it at all.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583680" y="2070452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217381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2738588"/>
            <a:ext cx="4617720" cy="38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Relational Joins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83680" y="2930612"/>
            <a:ext cx="4617720" cy="955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ProductID or DealerCode rows cannot be merged with the Products/Dealers master tables, leaving NaN features across an entire transaction.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14400" y="4331599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759" y="4471416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5010912"/>
            <a:ext cx="4617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Aggregates &amp; KPIs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914400" y="5285233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 nulls ('NA', 'null', 'None' as text) are invisible to .isnull() and quietly inflate counts or skew average satisfaction and delivery metrics.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583680" y="4261104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2719" y="4398264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83680" y="50749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Untrustworthy Predictions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583680" y="4901185"/>
            <a:ext cx="46177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uncleaned data inherit every encoding error - the cost of a bad join or bad cast shows up later as silent prediction drift, not a crash.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Data Audit with df.info()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a single value, the raw Sales table was profiled to establish a baseline: row count, dtypes, and which columns carry nulls.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2377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800,000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43200" y="2377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15A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74320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3776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37760" y="2377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93776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with nulls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3703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counts surfaced by the first audit: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41648"/>
          <a:ext cx="6217920" cy="17556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Missing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FinancePartner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571,723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BookingToDeliveryDays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7178040" y="1627632"/>
            <a:ext cx="4480560" cy="4663440"/>
          </a:xfrm>
          <a:prstGeom prst="roundRect">
            <a:avLst>
              <a:gd name="adj" fmla="val 1633"/>
            </a:avLst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452360" y="1810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RangeIndex: 800000 entries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452360" y="2066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columns (total 17 columns)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452360" y="24505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SaleDate            800000  object</a:t>
            </a:r>
            <a:endParaRPr lang="en-US" sz="960" dirty="0"/>
          </a:p>
        </p:txBody>
      </p:sp>
      <p:sp>
        <p:nvSpPr>
          <p:cNvPr id="22" name="Text 18"/>
          <p:cNvSpPr/>
          <p:nvPr/>
        </p:nvSpPr>
        <p:spPr>
          <a:xfrm>
            <a:off x="7452360" y="275234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InvoiceID           799255  object</a:t>
            </a:r>
            <a:endParaRPr lang="en-US" sz="960" dirty="0"/>
          </a:p>
        </p:txBody>
      </p:sp>
      <p:sp>
        <p:nvSpPr>
          <p:cNvPr id="23" name="Text 19"/>
          <p:cNvSpPr/>
          <p:nvPr/>
        </p:nvSpPr>
        <p:spPr>
          <a:xfrm>
            <a:off x="7452360" y="30540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ProductID           798430  object</a:t>
            </a:r>
            <a:endParaRPr lang="en-US" sz="960" dirty="0"/>
          </a:p>
        </p:txBody>
      </p:sp>
      <p:sp>
        <p:nvSpPr>
          <p:cNvPr id="24" name="Text 20"/>
          <p:cNvSpPr/>
          <p:nvPr/>
        </p:nvSpPr>
        <p:spPr>
          <a:xfrm>
            <a:off x="7452360" y="33558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FuelType            800000  object</a:t>
            </a:r>
            <a:endParaRPr lang="en-US" sz="960" dirty="0"/>
          </a:p>
        </p:txBody>
      </p:sp>
      <p:sp>
        <p:nvSpPr>
          <p:cNvPr id="25" name="Text 21"/>
          <p:cNvSpPr/>
          <p:nvPr/>
        </p:nvSpPr>
        <p:spPr>
          <a:xfrm>
            <a:off x="7452360" y="36576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FF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ExShowroomPrice     800000  object   &lt;- text!</a:t>
            </a:r>
            <a:endParaRPr lang="en-US" sz="960" dirty="0"/>
          </a:p>
        </p:txBody>
      </p:sp>
      <p:sp>
        <p:nvSpPr>
          <p:cNvPr id="26" name="Text 22"/>
          <p:cNvSpPr/>
          <p:nvPr/>
        </p:nvSpPr>
        <p:spPr>
          <a:xfrm>
            <a:off x="7452360" y="39593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FF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FinancePartner      228277  object   &lt;- 71% null</a:t>
            </a:r>
            <a:endParaRPr lang="en-US" sz="960" dirty="0"/>
          </a:p>
        </p:txBody>
      </p:sp>
      <p:sp>
        <p:nvSpPr>
          <p:cNvPr id="27" name="Text 23"/>
          <p:cNvSpPr/>
          <p:nvPr/>
        </p:nvSpPr>
        <p:spPr>
          <a:xfrm>
            <a:off x="7452360" y="426110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SatisfactionScore   797620  float64</a:t>
            </a:r>
            <a:endParaRPr lang="en-US" sz="960" dirty="0"/>
          </a:p>
        </p:txBody>
      </p:sp>
      <p:sp>
        <p:nvSpPr>
          <p:cNvPr id="28" name="Text 24"/>
          <p:cNvSpPr/>
          <p:nvPr/>
        </p:nvSpPr>
        <p:spPr>
          <a:xfrm>
            <a:off x="7452360" y="456285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BookingToDeliveryDays 798470 float64</a:t>
            </a:r>
            <a:endParaRPr lang="en-US" sz="960" dirty="0"/>
          </a:p>
        </p:txBody>
      </p:sp>
      <p:sp>
        <p:nvSpPr>
          <p:cNvPr id="29" name="Text 25"/>
          <p:cNvSpPr/>
          <p:nvPr/>
        </p:nvSpPr>
        <p:spPr>
          <a:xfrm>
            <a:off x="7452360" y="50292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F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ExShowroomPrice is typed as object, not numeric - a major red flag for any ML feature pipeline.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/ Disguised Null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pandas' .isnull() only catches true NaN. Source systems often export missing data as literal text - these markers slip through silently unless normalized first.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514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0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  (empty string)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084832" y="25146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10" name="Text 7"/>
          <p:cNvSpPr/>
          <p:nvPr/>
        </p:nvSpPr>
        <p:spPr>
          <a:xfrm>
            <a:off x="2084832" y="2514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0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'NA'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21024" y="25146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12" name="Text 9"/>
          <p:cNvSpPr/>
          <p:nvPr/>
        </p:nvSpPr>
        <p:spPr>
          <a:xfrm>
            <a:off x="3621024" y="2514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0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'N/A'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157216" y="25146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14" name="Text 11"/>
          <p:cNvSpPr/>
          <p:nvPr/>
        </p:nvSpPr>
        <p:spPr>
          <a:xfrm>
            <a:off x="5157216" y="2514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0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'NULL'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017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0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'null'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084832" y="30175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18" name="Text 15"/>
          <p:cNvSpPr/>
          <p:nvPr/>
        </p:nvSpPr>
        <p:spPr>
          <a:xfrm>
            <a:off x="2084832" y="3017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0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'nan'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21024" y="30175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20" name="Text 17"/>
          <p:cNvSpPr/>
          <p:nvPr/>
        </p:nvSpPr>
        <p:spPr>
          <a:xfrm>
            <a:off x="3621024" y="3017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0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'None'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37033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markers map to a single, queryable np.nan - restoring an accurate null signal across every text column before any downstream logic runs.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178040" y="1627632"/>
            <a:ext cx="4480560" cy="2331720"/>
          </a:xfrm>
          <a:prstGeom prst="roundRect">
            <a:avLst>
              <a:gd name="adj" fmla="val 3137"/>
            </a:avLst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45236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Hidden Null Cleaning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452360" y="21076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sales.replace(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452360" y="23865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['', 'NA', 'N/A', 'NULL',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452360" y="26654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'null', 'nan', 'None'],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452360" y="2944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np.nan,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452360" y="32232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inplace=True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452360" y="3502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178040" y="4160520"/>
            <a:ext cx="4480560" cy="2148840"/>
          </a:xfrm>
          <a:prstGeom prst="roundRect">
            <a:avLst>
              <a:gd name="adj" fmla="val 340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406640" y="43159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runs first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406640" y="46634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step depends on it - fillna(), dropna(), and median calculations all assume nulls are real NaN, not the string 'null'.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Field Corruption: ExShowroomPrice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19,821 records (2.48%) stored ExShowroomPrice with currency symbols or unit suffixes instead of a clean integer - forcing the entire column to load as text.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FBEAE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542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0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raw object dtype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'Rs871980'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'1219671 INR'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'Rs1536650'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'582796 INR'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4846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E0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formats: rupee symbol, 'INR' suffix, raw digits — pandas cannot compute on any of it.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97880" y="233172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EAEE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0" y="2542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clean numeric (int)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17920" y="2971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871980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17920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1219671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1792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1536650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17920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582796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17920" y="4846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strips every non-numeric character, then pd.to_numeric() casts to a true number type.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5760720"/>
            <a:ext cx="10469880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79729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sales['ExShowroomPrice'] = sales['ExShowroomPrice'].astype(str).str.replace(r'[^0-9.]', '', regex=True)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sales['ExShowroomPrice'] = pd.to_numeric(sales['ExShowroomPrice'], errors='coerce')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Missing-Value Diagnostic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FinancePartner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571,723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(MNAR)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fillna('No Finance')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Low, random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imputation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BookingToDeliveryDays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Low, random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imputation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57200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77240" y="4773168"/>
            <a:ext cx="201168" cy="20116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5"/>
          <p:cNvSpPr/>
          <p:nvPr/>
        </p:nvSpPr>
        <p:spPr>
          <a:xfrm>
            <a:off x="1097280" y="4709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key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" y="5029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joins &amp; identity - must drop, cannot fabricate.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70832" y="457200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99432" y="4773168"/>
            <a:ext cx="201168" cy="201168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3" name="Text 9"/>
          <p:cNvSpPr/>
          <p:nvPr/>
        </p:nvSpPr>
        <p:spPr>
          <a:xfrm>
            <a:off x="4919472" y="4709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(MNAR)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99432" y="5120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carries meaning (no financing used) - encode, don't impute blindly.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93024" y="457200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21624" y="4773168"/>
            <a:ext cx="201168" cy="20116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7" name="Text 13"/>
          <p:cNvSpPr/>
          <p:nvPr/>
        </p:nvSpPr>
        <p:spPr>
          <a:xfrm>
            <a:off x="8741664" y="4709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random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421624" y="5120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share of rows - safe for statistical imputation</a:t>
            </a: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Framework: Drop vs. Impute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missing-value decision in this pipeline follows the standard missing-data taxonomy used in ML preprocessing: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42316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14213D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MCAR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Completely At Random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3639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8953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SatisfactionScore, BookingToDeliveryDays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4988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4754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impute with median - no systematic pattern, low volume (&lt;0.3%).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79976" y="21488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54296" y="242316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415A77"/>
          </a:solidFill>
          <a:ln/>
        </p:spPr>
      </p:sp>
      <p:sp>
        <p:nvSpPr>
          <p:cNvPr id="17" name="Text 14"/>
          <p:cNvSpPr/>
          <p:nvPr/>
        </p:nvSpPr>
        <p:spPr>
          <a:xfrm>
            <a:off x="4654296" y="2423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654296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At Random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654296" y="3639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54296" y="38953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ProductID, InvoiceID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54296" y="44988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54296" y="4754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specific export/scan failures - too risky to fabricate identity keys, so rows are dropped.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211312" y="21488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85632" y="242316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C8102E"/>
          </a:solidFill>
          <a:ln/>
        </p:spPr>
      </p:sp>
      <p:sp>
        <p:nvSpPr>
          <p:cNvPr id="25" name="Text 22"/>
          <p:cNvSpPr/>
          <p:nvPr/>
        </p:nvSpPr>
        <p:spPr>
          <a:xfrm>
            <a:off x="8485632" y="2423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MNAR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8485632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Not At Random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485632" y="3639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485632" y="38953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FinancePartner (71.5%)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85632" y="44988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485632" y="4754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itself is informative - it means the customer paid cash or leased. Encode explicitly, never impute a fake bank.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Dropping Critical Key Nulls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and InvoiceID are primary/foreign keys. Without them a row cannot be joined to the product catalog or traced to a unique transaction - so these rows are removed, not imputed.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331720"/>
          <a:ext cx="63093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178040" y="2331720"/>
            <a:ext cx="448056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406640" y="25420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= sales.dropna(subset=['ProductID'])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406640" y="28620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= sales.dropna(subset=['InvoiceID'])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406640" y="32918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ProductID is a critical business key — without it the analyst cannot identify the model, segment, join to the Product table, or compute revenue by model. Only ~0.2% of rows affected, so dropping beats fabricating IDs.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7178040" y="4251960"/>
            <a:ext cx="4480560" cy="1783080"/>
          </a:xfrm>
          <a:prstGeom prst="roundRect">
            <a:avLst>
              <a:gd name="adj" fmla="val 4103"/>
            </a:avLst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406640" y="4434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Impact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406640" y="4754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2,313</a:t>
            </a: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rows removed (0.29%)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7406640" y="5303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negligible loss that protects every downstream join and model feature from corrupted identity fields.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Imputing FinancePartner: the 71% 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71.47% missing looks alarming, but the cause is structural, not random: FinancePartner is only populated when PaymentMode is 'Loan'. Cash and lease buyers never had a bank to record.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50220714"/>
              </p:ext>
            </p:extLst>
          </p:nvPr>
        </p:nvGraphicFramePr>
        <p:xfrm>
          <a:off x="548640" y="2377440"/>
          <a:ext cx="42976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166360" y="2377440"/>
            <a:ext cx="3063240" cy="155448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394960" y="2606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sales['FinancePartner'] =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sales['FinancePartner']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.fillna('No Finance')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458200" y="2377440"/>
            <a:ext cx="3200400" cy="3657600"/>
          </a:xfrm>
          <a:prstGeom prst="roundRect">
            <a:avLst>
              <a:gd name="adj" fmla="val 2286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68680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median/mode imputation?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686800" y="2734056"/>
            <a:ext cx="27432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the most common bank (mode) would fabricate a financing relationship that never existed.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category preserves the true signal: 'this customer did not finance through a partner.'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FinancePartner usable as a categorical ML feature instead of discarding 71% of the column.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166360" y="4114800"/>
            <a:ext cx="3063240" cy="1920240"/>
          </a:xfrm>
          <a:prstGeom prst="roundRect">
            <a:avLst>
              <a:gd name="adj" fmla="val 3810"/>
            </a:avLst>
          </a:prstGeom>
          <a:solidFill>
            <a:srgbClr val="FBEAE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394960" y="4297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0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takeaway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394960" y="4297680"/>
            <a:ext cx="26517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missingness is not automatically a data-quality flaw - always check whether it is MNAR before choosing a strategy.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Imputation: Satisfaction &amp;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fields are low-volume, randomly missing (MCAR) numeric measures. Median imputation fills the gap without letting outliers distort the distribution.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423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SatisfactionScore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2,380 rows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missing  (0.30%)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3246120"/>
            <a:ext cx="4800600" cy="1067972"/>
          </a:xfrm>
          <a:prstGeom prst="roundRect">
            <a:avLst>
              <a:gd name="adj" fmla="val 5714"/>
            </a:avLst>
          </a:prstGeom>
          <a:solidFill>
            <a:srgbClr val="14213D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36499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sales['SatisfactionScore'] =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sales['SatisfactionScore']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.fillna(sales['SatisfactionScore'].median())</a:t>
            </a:r>
            <a:endParaRPr lang="en-US" sz="1030" dirty="0"/>
          </a:p>
        </p:txBody>
      </p:sp>
      <p:sp>
        <p:nvSpPr>
          <p:cNvPr id="12" name="Text 9"/>
          <p:cNvSpPr/>
          <p:nvPr/>
        </p:nvSpPr>
        <p:spPr>
          <a:xfrm>
            <a:off x="822960" y="4370832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0-100 score - mean would be pulled by a handful of extreme low ratings; median holds the typical customer experience steady.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17336" y="22402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91656" y="2423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BookingToDeliveryDays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91656" y="2834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1,530 rows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missing  (0.19%)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91656" y="3246120"/>
            <a:ext cx="4800600" cy="1067972"/>
          </a:xfrm>
          <a:prstGeom prst="roundRect">
            <a:avLst>
              <a:gd name="adj" fmla="val 5714"/>
            </a:avLst>
          </a:prstGeom>
          <a:solidFill>
            <a:srgbClr val="14213D"/>
          </a:solidFill>
          <a:ln/>
        </p:spPr>
      </p:sp>
      <p:sp>
        <p:nvSpPr>
          <p:cNvPr id="17" name="Text 14"/>
          <p:cNvSpPr/>
          <p:nvPr/>
        </p:nvSpPr>
        <p:spPr>
          <a:xfrm>
            <a:off x="6574536" y="336499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sales['BookingToDeliveryDays'] =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sales['BookingToDeliveryDays']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.fillna(sales['BookingToDeliveryDays'].median())</a:t>
            </a:r>
            <a:endParaRPr lang="en-US" sz="1030" dirty="0"/>
          </a:p>
        </p:txBody>
      </p:sp>
      <p:sp>
        <p:nvSpPr>
          <p:cNvPr id="18" name="Text 15"/>
          <p:cNvSpPr/>
          <p:nvPr/>
        </p:nvSpPr>
        <p:spPr>
          <a:xfrm>
            <a:off x="6391656" y="4142232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 time is right-skewed (a few long delays) - median is the robust center, unlike the mean.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Enriching Sales via Left Joins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keys clean and types corrected, Sales is enriched with descriptive attributes from the Product and Dealer master tables.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807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172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797,687 x 17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0" y="21488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57600" y="2258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657600" y="2624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x 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0" y="32461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415A7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57600" y="3355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0" y="3721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x 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017520" y="260604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017520" y="2606040"/>
            <a:ext cx="64008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2697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080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merge(on='ProductID')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merge(on='DealerCode')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89320" y="28346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-&gt;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235440" y="28346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-&gt;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9784080" y="26060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C810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78408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BD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797,687 x 25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343400"/>
            <a:ext cx="104698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22960" y="44988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( sales.merge(products, on='ProductID', how='left')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.merge(dealers, on='DealerCode', how='left') 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5486400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columns gained: Model, VariantCode, Segment, BasePriceVariant, AvailableFuels, DealerName, City, State - all joined on a 'left' to preserve every surviving sales record.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Validation &amp; Quality Scorecard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checks confirm the dataset is model-ready: zero residual nulls across all 25 columns, and zero duplicate rows.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2542032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235915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797,687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297180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rows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73552" y="2240280"/>
            <a:ext cx="2542032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73552" y="235915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15A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273552" y="297180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98464" y="2240280"/>
            <a:ext cx="2542032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98464" y="235915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998464" y="297180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remaining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23376" y="2240280"/>
            <a:ext cx="2542032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723376" y="2359152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723376" y="297180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794760"/>
            <a:ext cx="5212080" cy="2606040"/>
          </a:xfrm>
          <a:prstGeom prst="roundRect">
            <a:avLst>
              <a:gd name="adj" fmla="val 2807"/>
            </a:avLst>
          </a:prstGeom>
          <a:solidFill>
            <a:srgbClr val="1421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77240" y="3931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77240" y="4206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SaleDate 0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777240" y="441198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InvoiceID 0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777240" y="46177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ProductID 0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777240" y="48234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ExShowroomPrice 0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>
            <a:off x="777240" y="50292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FinancePartner 0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777240" y="52349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0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777240" y="544068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DealerName 0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777240" y="56464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7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0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777240" y="59070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8AE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25 columns -&gt; 0 nulls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989320" y="3794760"/>
            <a:ext cx="5669280" cy="260604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26364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  -&gt;  0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263640" y="4526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scorecard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263640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537960" y="4864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— no missing values in any feature column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63640" y="5175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537960" y="5175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— no duplicate transaction rows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26364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537960" y="5486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— ExShowroomPrice fully numeric, ready for modeling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263640" y="5797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537960" y="57972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keys join cleanly to Product &amp; Dealer masters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15A7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C8102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C8102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63093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749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Takeaways: A Data-Cleaning Checklist for ML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C2D52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984248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192938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before you act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17320" y="22860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and isnull() set the baseline — never clean blind.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17830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C2D52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6520" y="1984248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086600" y="192938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disguised nulls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86600" y="22860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markers like 'NA' or 'null' hide from .isnull() — normalize them first.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2461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C2D52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240" y="3447288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17320" y="33924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types before you analyze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417320" y="374904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stored as text is unusable — cast and validate numeric fields early.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17920" y="32461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C2D52"/>
          </a:solidFill>
          <a:ln/>
        </p:spPr>
      </p:sp>
      <p:sp>
        <p:nvSpPr>
          <p:cNvPr id="24" name="Shape 21"/>
          <p:cNvSpPr/>
          <p:nvPr/>
        </p:nvSpPr>
        <p:spPr>
          <a:xfrm>
            <a:off x="6446520" y="3447288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5" name="Text 22"/>
          <p:cNvSpPr/>
          <p:nvPr/>
        </p:nvSpPr>
        <p:spPr>
          <a:xfrm>
            <a:off x="644652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86600" y="33924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missingness before acting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086600" y="374904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 / MAR / MNAR determines drop vs. impute, not gut feel.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470916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C2D52"/>
          </a:solidFill>
          <a:ln/>
        </p:spPr>
      </p:sp>
      <p:sp>
        <p:nvSpPr>
          <p:cNvPr id="29" name="Shape 26"/>
          <p:cNvSpPr/>
          <p:nvPr/>
        </p:nvSpPr>
        <p:spPr>
          <a:xfrm>
            <a:off x="777240" y="4910328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0" name="Text 27"/>
          <p:cNvSpPr/>
          <p:nvPr/>
        </p:nvSpPr>
        <p:spPr>
          <a:xfrm>
            <a:off x="7772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417320" y="48554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identity keys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417320" y="52120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fabricate ProductID/InvoiceID — drop the small fraction instead.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217920" y="470916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1C2D52"/>
          </a:solidFill>
          <a:ln/>
        </p:spPr>
      </p:sp>
      <p:sp>
        <p:nvSpPr>
          <p:cNvPr id="34" name="Shape 31"/>
          <p:cNvSpPr/>
          <p:nvPr/>
        </p:nvSpPr>
        <p:spPr>
          <a:xfrm>
            <a:off x="6446520" y="4910328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5" name="Text 32"/>
          <p:cNvSpPr/>
          <p:nvPr/>
        </p:nvSpPr>
        <p:spPr>
          <a:xfrm>
            <a:off x="644652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086600" y="48554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then validate again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086600" y="52120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nulls and zero duplicates are the exit criteria, not a guess.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48640" y="62362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isn't a chore before modeling — it is the model's most important feature.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Sales — Data Cleaning Case Study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002975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1926</Words>
  <Application>Microsoft Office PowerPoint</Application>
  <PresentationFormat>Widescreen</PresentationFormat>
  <Paragraphs>355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in Machine Learning — Maruti Suzuki Sales Dataset</dc:title>
  <dc:subject>PptxGenJS Presentation</dc:subject>
  <dc:creator>Senior Data Analyst Review</dc:creator>
  <cp:lastModifiedBy>Hp</cp:lastModifiedBy>
  <cp:revision>5</cp:revision>
  <dcterms:created xsi:type="dcterms:W3CDTF">2026-06-30T21:07:20Z</dcterms:created>
  <dcterms:modified xsi:type="dcterms:W3CDTF">2026-06-30T21:51:57Z</dcterms:modified>
</cp:coreProperties>
</file>